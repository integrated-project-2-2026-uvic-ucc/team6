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2" r:id="rId10"/>
    <p:sldId id="261" r:id="rId11"/>
    <p:sldId id="263" r:id="rId12"/>
  </p:sldIdLst>
  <p:sldSz cx="12192000" cy="6858000"/>
  <p:notesSz cx="6858000" cy="9144000"/>
  <p:defaultTextStyle>
    <a:defPPr>
      <a:defRPr lang="ca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514E41-64DA-43D7-B9BB-1640E569CB77}" v="248" dt="2026-02-19T13:02:41.2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a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3F3932-414F-4A4C-88B7-7C45DC06CC55}" type="datetimeFigureOut">
              <a:rPr lang="ca-ES" smtClean="0"/>
              <a:t>24/3/2026</a:t>
            </a:fld>
            <a:endParaRPr lang="ca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a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a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D58F39-2D0A-4DAD-8298-F017C82F50D6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780474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58F39-2D0A-4DAD-8298-F017C82F50D6}" type="slidenum">
              <a:rPr lang="ca-ES" smtClean="0"/>
              <a:t>2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6713361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58F39-2D0A-4DAD-8298-F017C82F50D6}" type="slidenum">
              <a:rPr lang="ca-ES" smtClean="0"/>
              <a:t>3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9383967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58F39-2D0A-4DAD-8298-F017C82F50D6}" type="slidenum">
              <a:rPr lang="ca-ES" smtClean="0"/>
              <a:t>5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99286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DB1062-D647-DD0D-EF5B-EEC2A0140C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855E55-38AB-C4B1-B228-64539A0E3C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A29BC0-5B5F-F93C-78AE-D8D5AA57F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B057E-E0F4-43DE-A2FD-D72D506F0C90}" type="datetimeFigureOut">
              <a:rPr lang="ca-ES" smtClean="0"/>
              <a:t>24/3/2026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BBB55A-D749-CA56-857D-109F4D9CE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EDED6A-B03D-7058-F6D3-168185B24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C984E-4BDA-4A7A-B886-CD4EC639DD9A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386868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A2BC40-02A3-E045-B51A-E6F9D3FBC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F362E9-0036-FF04-B237-DFDC97F93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66AED3-C27A-A787-B07E-002DA5950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B057E-E0F4-43DE-A2FD-D72D506F0C90}" type="datetimeFigureOut">
              <a:rPr lang="ca-ES" smtClean="0"/>
              <a:t>24/3/2026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811D30-A70C-9397-C69E-AC92D730D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1F979D-1DF6-6C5F-B0B0-AF0C9273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C984E-4BDA-4A7A-B886-CD4EC639DD9A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928705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A23090-C53C-62E9-ACF2-DA4E3486D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E0CCBB4-8C07-DC2C-8F24-D74896861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0E320C-6B38-0B5D-86D1-9528D842C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B057E-E0F4-43DE-A2FD-D72D506F0C90}" type="datetimeFigureOut">
              <a:rPr lang="ca-ES" smtClean="0"/>
              <a:t>24/3/2026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731103-BC26-FFA8-D709-F541BB132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2B9F7B-9660-5358-0A7C-0CA89D0FF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C984E-4BDA-4A7A-B886-CD4EC639DD9A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35695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9F282-3129-309C-CD20-CF6670A98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B9E347-663D-294F-7701-5954BC5C6A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FCAF780-DC39-3910-2FCD-CE3B190D5D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8F1B0AF-1415-3E17-DF6B-4C5D8F7C1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B057E-E0F4-43DE-A2FD-D72D506F0C90}" type="datetimeFigureOut">
              <a:rPr lang="ca-ES" smtClean="0"/>
              <a:t>24/3/2026</a:t>
            </a:fld>
            <a:endParaRPr lang="ca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14F85E1-F66F-41E5-3D39-18387C806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ABA90D5-61BA-C278-C1A4-ECEAFA7C7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C984E-4BDA-4A7A-B886-CD4EC639DD9A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888695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7394A7-A18C-EFB3-AC78-10C065455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C1F756-4E4C-0AC6-0995-E0BB58B75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4FDEA80-2E92-E3E0-1D63-EB8BAA7AE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628476A-349A-53D8-FA55-494EA3E9FB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1BCD78A-7C63-3D7D-F364-04E12A59B2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B8079FA-1592-BD9A-6188-84B553C03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B057E-E0F4-43DE-A2FD-D72D506F0C90}" type="datetimeFigureOut">
              <a:rPr lang="ca-ES" smtClean="0"/>
              <a:t>24/3/2026</a:t>
            </a:fld>
            <a:endParaRPr lang="ca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07F8FD0-6EB9-E476-F2A6-B57695D77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8332C21-EF16-2773-694F-66B623B92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C984E-4BDA-4A7A-B886-CD4EC639DD9A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910068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42E4F8-8945-5008-8815-7DCC81262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8C9DE89-0ED8-DA24-5AC5-54AB53B76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B057E-E0F4-43DE-A2FD-D72D506F0C90}" type="datetimeFigureOut">
              <a:rPr lang="ca-ES" smtClean="0"/>
              <a:t>24/3/2026</a:t>
            </a:fld>
            <a:endParaRPr lang="ca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E52787A-61E2-01CC-81E6-A89FE301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F2DAB81-2771-9C23-59E9-5EE937B02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C984E-4BDA-4A7A-B886-CD4EC639DD9A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331412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4C7665B-66FB-4A14-5661-075C52843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B057E-E0F4-43DE-A2FD-D72D506F0C90}" type="datetimeFigureOut">
              <a:rPr lang="ca-ES" smtClean="0"/>
              <a:t>24/3/2026</a:t>
            </a:fld>
            <a:endParaRPr lang="ca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3096E3C-237D-8B2A-BE71-9A7AD69DC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1C347CE-2671-CD6E-5A79-A71D969EB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C984E-4BDA-4A7A-B886-CD4EC639DD9A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121034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6447A5-FEB5-7B94-2DFF-DEB94B5C3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C09E2B-B7FE-AA89-920D-E4B5C9240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3EF4561-D57C-D197-A72C-34A1D6D995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61B9B88-36D5-E3E0-D243-6CF9CB9C7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B057E-E0F4-43DE-A2FD-D72D506F0C90}" type="datetimeFigureOut">
              <a:rPr lang="ca-ES" smtClean="0"/>
              <a:t>24/3/2026</a:t>
            </a:fld>
            <a:endParaRPr lang="ca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AAE5B8-84CA-6BAB-B695-E03DBB34E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31E1876-377E-8482-EE1B-9244E88CD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C984E-4BDA-4A7A-B886-CD4EC639DD9A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123796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D8990E-20E5-5181-5A72-A25778AB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2246134-45D4-949F-62C3-84FEB6471A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a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EBEE75A-2739-284A-C3B2-474BD499BA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E6B8241-D6B7-89CB-21C1-F8CCFC14B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B057E-E0F4-43DE-A2FD-D72D506F0C90}" type="datetimeFigureOut">
              <a:rPr lang="ca-ES" smtClean="0"/>
              <a:t>24/3/2026</a:t>
            </a:fld>
            <a:endParaRPr lang="ca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870365E-F5B7-E9FD-7004-2D89A0A0A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CEB662-5135-E6CB-A980-8FA648E82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C984E-4BDA-4A7A-B886-CD4EC639DD9A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69545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44B2FC-9DC0-2839-58FE-23D6CCB17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4EB52D4-58B4-44D4-E6CC-88CF83D737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AA88C9-6303-934A-87A0-FFC1474C6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B057E-E0F4-43DE-A2FD-D72D506F0C90}" type="datetimeFigureOut">
              <a:rPr lang="ca-ES" smtClean="0"/>
              <a:t>24/3/2026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156E5B-47A5-129C-64C4-7B2BE0546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256CD8-C530-55E8-441D-4D2F1B920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C984E-4BDA-4A7A-B886-CD4EC639DD9A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097403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3113C30-CDCC-805F-F996-E86D682170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E0E6CC5-0E7A-49C6-8F3F-6F611B276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AB7563-895F-E766-74BB-2654857FF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B057E-E0F4-43DE-A2FD-D72D506F0C90}" type="datetimeFigureOut">
              <a:rPr lang="ca-ES" smtClean="0"/>
              <a:t>24/3/2026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AABCF4-C028-C8DC-348C-A54828C6E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39BD33-B776-381E-FF73-172D5A286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C984E-4BDA-4A7A-B886-CD4EC639DD9A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561895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6AD0BA6-7282-BF40-DACB-B194B6188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99AF7FD-2E6C-0A77-B6B2-55453CE4F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639393-C715-F4BD-5A7B-5CD5242657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9B057E-E0F4-43DE-A2FD-D72D506F0C90}" type="datetimeFigureOut">
              <a:rPr lang="ca-ES" smtClean="0"/>
              <a:t>24/3/2026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821635-EABB-B7E3-CCAF-D65D4382A2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52C80E-FDA0-01C1-26E6-B6C11B6283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FC984E-4BDA-4A7A-B886-CD4EC639DD9A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980539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a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microsoft.com/office/2007/relationships/hdphoto" Target="../media/hdphoto1.wdp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github.com/Integrated-Project-2-2026-UVic-UCC/Team6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neskyhook.com/product-page/Dual-Release-and-Drop-PLUS-for-DJI-Phantom-3" TargetMode="External"/><Relationship Id="rId2" Type="http://schemas.openxmlformats.org/officeDocument/2006/relationships/hyperlink" Target="https://www.thingiverse.com/thing:2913421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hingiverse.com/thing:3953342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4" name="Rectangle 109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pic>
        <p:nvPicPr>
          <p:cNvPr id="17" name="Imagen 16" descr="Un barco en el mar&#10;&#10;El contenido generado por IA puede ser incorrecto.">
            <a:extLst>
              <a:ext uri="{FF2B5EF4-FFF2-40B4-BE49-F238E27FC236}">
                <a16:creationId xmlns:a16="http://schemas.microsoft.com/office/drawing/2014/main" id="{85E0D388-BABE-1AAC-6BD1-A5FE1837D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283" r="9091" b="1709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5" name="Rectangle 111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5356E20-DB37-3C17-380D-B206D28E2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 noProof="0">
                <a:latin typeface="+mn-lt"/>
              </a:rPr>
              <a:t>Milestone 0:</a:t>
            </a:r>
            <a:br>
              <a:rPr lang="en-US" sz="4800" noProof="0">
                <a:latin typeface="+mn-lt"/>
              </a:rPr>
            </a:br>
            <a:r>
              <a:rPr lang="en-US" sz="4800" noProof="0">
                <a:latin typeface="+mn-lt"/>
              </a:rPr>
              <a:t>Presentation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A0B3054-670D-819E-5807-8293542D25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143181" cy="1208141"/>
          </a:xfrm>
        </p:spPr>
        <p:txBody>
          <a:bodyPr>
            <a:normAutofit/>
          </a:bodyPr>
          <a:lstStyle/>
          <a:p>
            <a:pPr algn="l"/>
            <a:r>
              <a:rPr lang="en-US" sz="1400" noProof="0" dirty="0"/>
              <a:t>Oriol Bonet, Martí Alsina, Xavier Vilalta and Jan Font</a:t>
            </a:r>
          </a:p>
          <a:p>
            <a:pPr algn="l"/>
            <a:r>
              <a:rPr lang="en-US" sz="1400" noProof="0" dirty="0"/>
              <a:t>Integrated Project II</a:t>
            </a:r>
          </a:p>
          <a:p>
            <a:pPr algn="l"/>
            <a:r>
              <a:rPr lang="en-US" sz="1400" noProof="0" dirty="0" err="1"/>
              <a:t>Universitat</a:t>
            </a:r>
            <a:r>
              <a:rPr lang="en-US" sz="1400" noProof="0" dirty="0"/>
              <a:t> de Vic</a:t>
            </a:r>
          </a:p>
        </p:txBody>
      </p:sp>
      <p:sp>
        <p:nvSpPr>
          <p:cNvPr id="126" name="Rectangle 1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7" name="Rectangle 1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3671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2" name="Rectangle 1056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A70BEB-5BDE-EB8E-8F3F-E0901930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400" noProof="0"/>
              <a:t>PROJECT PROPOSAL</a:t>
            </a:r>
          </a:p>
        </p:txBody>
      </p:sp>
      <p:sp>
        <p:nvSpPr>
          <p:cNvPr id="1063" name="Rectangle 1058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61" name="Rectangle 1060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DD881B-5CAA-B5AC-688B-95F6B6D56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en-US" sz="1800" noProof="0"/>
              <a:t>Attachable hook for a drone</a:t>
            </a:r>
          </a:p>
          <a:p>
            <a:r>
              <a:rPr lang="en-US" sz="1800" noProof="0"/>
              <a:t>Cable Routing</a:t>
            </a:r>
          </a:p>
          <a:p>
            <a:r>
              <a:rPr lang="en-US" sz="1800" noProof="0"/>
              <a:t>Remote controlled</a:t>
            </a:r>
          </a:p>
          <a:p>
            <a:pPr marL="0" indent="0">
              <a:buNone/>
            </a:pPr>
            <a:endParaRPr lang="en-US" sz="1800" noProof="0"/>
          </a:p>
        </p:txBody>
      </p:sp>
      <p:pic>
        <p:nvPicPr>
          <p:cNvPr id="5" name="Imagen 4" descr="Imagen que contiene esquiando, aire&#10;&#10;El contenido generado por IA puede ser incorrecto.">
            <a:extLst>
              <a:ext uri="{FF2B5EF4-FFF2-40B4-BE49-F238E27FC236}">
                <a16:creationId xmlns:a16="http://schemas.microsoft.com/office/drawing/2014/main" id="{E31B6E7A-A953-7D93-4514-FC448020E3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961"/>
          <a:stretch>
            <a:fillRect/>
          </a:stretch>
        </p:blipFill>
        <p:spPr>
          <a:xfrm>
            <a:off x="5276088" y="1256865"/>
            <a:ext cx="6440424" cy="434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612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8" name="Rectangle 3087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1D0FB15-DD69-64C0-178A-A64A34580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400" noProof="0" dirty="0"/>
              <a:t>OBJECTIVES</a:t>
            </a:r>
          </a:p>
        </p:txBody>
      </p:sp>
      <p:sp>
        <p:nvSpPr>
          <p:cNvPr id="3090" name="Rectangle 3089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92" name="Rectangle 3091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11DE1CAE-C11D-9093-8667-5372FE949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436" y="2609913"/>
            <a:ext cx="4868442" cy="34928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noProof="0" dirty="0"/>
              <a:t>Main objective</a:t>
            </a:r>
          </a:p>
          <a:p>
            <a:pPr lvl="1"/>
            <a:r>
              <a:rPr lang="en-US" noProof="0" dirty="0"/>
              <a:t>Assembly of a remote-controlled hook attachment</a:t>
            </a:r>
          </a:p>
          <a:p>
            <a:pPr lvl="1"/>
            <a:endParaRPr lang="en-US" noProof="0" dirty="0"/>
          </a:p>
          <a:p>
            <a:r>
              <a:rPr lang="en-US" sz="2400" noProof="0" dirty="0"/>
              <a:t>Specific objectives</a:t>
            </a:r>
          </a:p>
          <a:p>
            <a:pPr lvl="1"/>
            <a:r>
              <a:rPr lang="en-US" noProof="0" dirty="0"/>
              <a:t>Pulley system</a:t>
            </a:r>
          </a:p>
          <a:p>
            <a:pPr lvl="1"/>
            <a:r>
              <a:rPr lang="en-US" noProof="0" dirty="0"/>
              <a:t>Safety features</a:t>
            </a:r>
          </a:p>
          <a:p>
            <a:pPr lvl="1"/>
            <a:endParaRPr lang="en-US" sz="1800" noProof="0" dirty="0"/>
          </a:p>
        </p:txBody>
      </p:sp>
      <p:pic>
        <p:nvPicPr>
          <p:cNvPr id="3076" name="Picture 4" descr="Simple Objective Slide Template for PowerPoint">
            <a:extLst>
              <a:ext uri="{FF2B5EF4-FFF2-40B4-BE49-F238E27FC236}">
                <a16:creationId xmlns:a16="http://schemas.microsoft.com/office/drawing/2014/main" id="{003A2A2C-9890-EFE5-9471-37051DA9B0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9" t="16969" r="45748" b="4392"/>
          <a:stretch>
            <a:fillRect/>
          </a:stretch>
        </p:blipFill>
        <p:spPr bwMode="auto">
          <a:xfrm>
            <a:off x="6096000" y="1535352"/>
            <a:ext cx="4389120" cy="3798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78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9" name="Rectangle 2078">
            <a:extLst>
              <a:ext uri="{FF2B5EF4-FFF2-40B4-BE49-F238E27FC236}">
                <a16:creationId xmlns:a16="http://schemas.microsoft.com/office/drawing/2014/main" id="{FF93924A-10DF-4647-8C7A-115C017577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54B79E1-90C9-E107-3E7D-F614697B5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49249"/>
            <a:ext cx="7053041" cy="1671570"/>
          </a:xfrm>
        </p:spPr>
        <p:txBody>
          <a:bodyPr>
            <a:normAutofit/>
          </a:bodyPr>
          <a:lstStyle/>
          <a:p>
            <a:r>
              <a:rPr lang="en-US" sz="4000" noProof="0" dirty="0"/>
              <a:t>TEAM ORGANITZATION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1F2536-757F-82ED-9EA8-16435881E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384215"/>
            <a:ext cx="4802249" cy="3744871"/>
          </a:xfrm>
        </p:spPr>
        <p:txBody>
          <a:bodyPr>
            <a:normAutofit/>
          </a:bodyPr>
          <a:lstStyle/>
          <a:p>
            <a:pPr>
              <a:lnSpc>
                <a:spcPct val="250000"/>
              </a:lnSpc>
            </a:pPr>
            <a:r>
              <a:rPr lang="en-US" sz="2000" noProof="0" dirty="0"/>
              <a:t>Project leader </a:t>
            </a:r>
            <a:r>
              <a:rPr lang="en-US" sz="2000" noProof="0" dirty="0">
                <a:sym typeface="Wingdings" panose="05000000000000000000" pitchFamily="2" charset="2"/>
              </a:rPr>
              <a:t> Jan Font</a:t>
            </a:r>
          </a:p>
          <a:p>
            <a:pPr>
              <a:lnSpc>
                <a:spcPct val="250000"/>
              </a:lnSpc>
            </a:pPr>
            <a:r>
              <a:rPr lang="en-US" sz="2000" noProof="0" dirty="0">
                <a:sym typeface="Wingdings" panose="05000000000000000000" pitchFamily="2" charset="2"/>
              </a:rPr>
              <a:t>Mechanical manager  Martí Alsina</a:t>
            </a:r>
          </a:p>
          <a:p>
            <a:pPr>
              <a:lnSpc>
                <a:spcPct val="250000"/>
              </a:lnSpc>
            </a:pPr>
            <a:r>
              <a:rPr lang="en-US" sz="2000" noProof="0" dirty="0">
                <a:sym typeface="Wingdings" panose="05000000000000000000" pitchFamily="2" charset="2"/>
              </a:rPr>
              <a:t>Electrical manager  Oriol Bonet</a:t>
            </a:r>
          </a:p>
          <a:p>
            <a:pPr>
              <a:lnSpc>
                <a:spcPct val="250000"/>
              </a:lnSpc>
            </a:pPr>
            <a:r>
              <a:rPr lang="en-US" sz="2000" noProof="0" dirty="0">
                <a:sym typeface="Wingdings" panose="05000000000000000000" pitchFamily="2" charset="2"/>
              </a:rPr>
              <a:t>Software manager  Xavier Vilalta</a:t>
            </a:r>
            <a:endParaRPr lang="en-US" sz="2000" noProof="0" dirty="0"/>
          </a:p>
        </p:txBody>
      </p:sp>
      <p:pic>
        <p:nvPicPr>
          <p:cNvPr id="1032" name="Picture 8" descr="Alsina Rosanas, Marti">
            <a:extLst>
              <a:ext uri="{FF2B5EF4-FFF2-40B4-BE49-F238E27FC236}">
                <a16:creationId xmlns:a16="http://schemas.microsoft.com/office/drawing/2014/main" id="{3E824C03-5EAE-B830-C366-76EF9F3CF8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930"/>
          <a:stretch>
            <a:fillRect/>
          </a:stretch>
        </p:blipFill>
        <p:spPr bwMode="auto">
          <a:xfrm>
            <a:off x="5164039" y="3247157"/>
            <a:ext cx="1448949" cy="1073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Vilalta Nájar, Xavier">
            <a:extLst>
              <a:ext uri="{FF2B5EF4-FFF2-40B4-BE49-F238E27FC236}">
                <a16:creationId xmlns:a16="http://schemas.microsoft.com/office/drawing/2014/main" id="{11AFA543-6031-93BB-FB19-E08236425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7495"/>
          <a:stretch>
            <a:fillRect/>
          </a:stretch>
        </p:blipFill>
        <p:spPr bwMode="auto">
          <a:xfrm>
            <a:off x="5171220" y="4898312"/>
            <a:ext cx="1448949" cy="1340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 descr="Diagrama&#10;&#10;El contenido generado por IA puede ser incorrecto.">
            <a:extLst>
              <a:ext uri="{FF2B5EF4-FFF2-40B4-BE49-F238E27FC236}">
                <a16:creationId xmlns:a16="http://schemas.microsoft.com/office/drawing/2014/main" id="{84CE2200-B32B-A319-B487-CACBE85C8B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9901" y="2050947"/>
            <a:ext cx="3708504" cy="2392419"/>
          </a:xfrm>
          <a:prstGeom prst="rect">
            <a:avLst/>
          </a:prstGeom>
        </p:spPr>
      </p:pic>
      <p:pic>
        <p:nvPicPr>
          <p:cNvPr id="4" name="Picture 2" descr="Font Coll, Jan">
            <a:extLst>
              <a:ext uri="{FF2B5EF4-FFF2-40B4-BE49-F238E27FC236}">
                <a16:creationId xmlns:a16="http://schemas.microsoft.com/office/drawing/2014/main" id="{67905DE1-3AD6-841B-70D0-CE5D44FED3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5602" y="2078319"/>
            <a:ext cx="1415640" cy="141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Bonet Costa, Oriol">
            <a:extLst>
              <a:ext uri="{FF2B5EF4-FFF2-40B4-BE49-F238E27FC236}">
                <a16:creationId xmlns:a16="http://schemas.microsoft.com/office/drawing/2014/main" id="{E089F9D5-F180-3013-A9F4-93BA6B7777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094" b="-3516"/>
          <a:stretch>
            <a:fillRect/>
          </a:stretch>
        </p:blipFill>
        <p:spPr bwMode="auto">
          <a:xfrm>
            <a:off x="6475602" y="3910941"/>
            <a:ext cx="1415641" cy="1435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3734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FA0892-1D8D-0D9B-BBDF-04AC1A6E4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noProof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MANAGEMENT PLANNING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D323A81-D681-2CD4-543F-155E4420684D}"/>
              </a:ext>
            </a:extLst>
          </p:cNvPr>
          <p:cNvSpPr txBox="1"/>
          <p:nvPr/>
        </p:nvSpPr>
        <p:spPr>
          <a:xfrm>
            <a:off x="8859453" y="502920"/>
            <a:ext cx="2701611" cy="19256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en-US" sz="2000" dirty="0">
                <a:effectLst/>
                <a:highlight>
                  <a:srgbClr val="FF00FF"/>
                </a:highlight>
              </a:rPr>
              <a:t>Project leader</a:t>
            </a:r>
            <a:endParaRPr lang="en-US" sz="2000" dirty="0">
              <a:effectLst/>
            </a:endParaRPr>
          </a:p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en-US" sz="2000" dirty="0">
                <a:effectLst/>
                <a:highlight>
                  <a:srgbClr val="FF0000"/>
                </a:highlight>
              </a:rPr>
              <a:t>Mechanical manager</a:t>
            </a:r>
            <a:endParaRPr lang="en-US" sz="2000" dirty="0">
              <a:effectLst/>
            </a:endParaRPr>
          </a:p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en-US" sz="2000" dirty="0">
                <a:effectLst/>
                <a:highlight>
                  <a:srgbClr val="FFFF00"/>
                </a:highlight>
              </a:rPr>
              <a:t>Electrical manager</a:t>
            </a:r>
            <a:endParaRPr lang="en-US" sz="2000" dirty="0">
              <a:effectLst/>
            </a:endParaRPr>
          </a:p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en-US" sz="2000" dirty="0">
                <a:effectLst/>
                <a:highlight>
                  <a:srgbClr val="00FF00"/>
                </a:highlight>
              </a:rPr>
              <a:t>Software Manager</a:t>
            </a:r>
            <a:endParaRPr lang="en-US" sz="2000" dirty="0">
              <a:effectLst/>
            </a:endParaRPr>
          </a:p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en-US" sz="2000" dirty="0">
                <a:effectLst/>
                <a:highlight>
                  <a:srgbClr val="800080"/>
                </a:highlight>
              </a:rPr>
              <a:t>All members</a:t>
            </a:r>
            <a:endParaRPr lang="en-US" sz="2000" dirty="0">
              <a:effectLst/>
            </a:endParaRP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5" name="Imagen 4" descr="Imagen que contiene Gráfico&#10;&#10;El contenido generado por IA puede ser incorrecto.">
            <a:extLst>
              <a:ext uri="{FF2B5EF4-FFF2-40B4-BE49-F238E27FC236}">
                <a16:creationId xmlns:a16="http://schemas.microsoft.com/office/drawing/2014/main" id="{7674DBA2-4C77-2698-6660-26FDE29E0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2742101"/>
            <a:ext cx="10917936" cy="3057022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8AA753C-75A9-38EC-0C3B-D9F5DF99C464}"/>
              </a:ext>
            </a:extLst>
          </p:cNvPr>
          <p:cNvSpPr txBox="1"/>
          <p:nvPr/>
        </p:nvSpPr>
        <p:spPr>
          <a:xfrm>
            <a:off x="4513006" y="698339"/>
            <a:ext cx="404469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ca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a-ES" sz="2000" dirty="0" err="1"/>
              <a:t>Weekly</a:t>
            </a:r>
            <a:r>
              <a:rPr lang="ca-ES" sz="2000" dirty="0"/>
              <a:t> </a:t>
            </a:r>
            <a:r>
              <a:rPr lang="ca-ES" sz="2000" dirty="0" err="1"/>
              <a:t>review</a:t>
            </a:r>
            <a:endParaRPr lang="ca-E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a-ES" sz="2000" dirty="0" err="1"/>
              <a:t>Sprint</a:t>
            </a:r>
            <a:r>
              <a:rPr lang="ca-ES" sz="2000" dirty="0"/>
              <a:t> Planning / </a:t>
            </a:r>
            <a:r>
              <a:rPr lang="ca-ES" sz="2000" dirty="0" err="1"/>
              <a:t>Sprint</a:t>
            </a:r>
            <a:r>
              <a:rPr lang="ca-ES" sz="2000" dirty="0"/>
              <a:t> </a:t>
            </a:r>
            <a:r>
              <a:rPr lang="ca-ES" sz="2000" dirty="0" err="1"/>
              <a:t>Review</a:t>
            </a:r>
            <a:endParaRPr lang="ca-ES" sz="2000" dirty="0"/>
          </a:p>
        </p:txBody>
      </p:sp>
    </p:spTree>
    <p:extLst>
      <p:ext uri="{BB962C8B-B14F-4D97-AF65-F5344CB8AC3E}">
        <p14:creationId xmlns:p14="http://schemas.microsoft.com/office/powerpoint/2010/main" val="633477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B79F7D-F690-2DF4-8979-0CD395254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WEBSITE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5BF731-5D12-3B42-BC8C-4638660FB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4661576"/>
            <a:ext cx="10515600" cy="622607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https://github.com/Integrated-Project-2-2026-UVic-UCC/Team6</a:t>
            </a:r>
            <a:endParaRPr lang="en-US" dirty="0"/>
          </a:p>
          <a:p>
            <a:endParaRPr lang="en-US" noProof="0" dirty="0"/>
          </a:p>
        </p:txBody>
      </p:sp>
      <p:pic>
        <p:nvPicPr>
          <p:cNvPr id="1026" name="Picture 2" descr="Unlocking the Power of GitHub: A Comprehensive Guide for Developers and  Teams">
            <a:extLst>
              <a:ext uri="{FF2B5EF4-FFF2-40B4-BE49-F238E27FC236}">
                <a16:creationId xmlns:a16="http://schemas.microsoft.com/office/drawing/2014/main" id="{A68F5EFD-4B06-7967-9DB5-3F2F234E8F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086" y="1421681"/>
            <a:ext cx="7888967" cy="2924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5092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B6D861F1-F386-4A7D-A4BF-3BEB82DEBA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9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684398"/>
            <a:ext cx="11167447" cy="5206040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3A35A7A-8462-45E4-3ECB-E6FD3972E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1408153"/>
            <a:ext cx="10168128" cy="1315035"/>
          </a:xfrm>
        </p:spPr>
        <p:txBody>
          <a:bodyPr>
            <a:normAutofit/>
          </a:bodyPr>
          <a:lstStyle/>
          <a:p>
            <a:r>
              <a:rPr lang="en-US" sz="4000" noProof="0"/>
              <a:t>REFERENCES</a:t>
            </a:r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1713627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D14ADF-5D20-1077-AD04-56BCFCB09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962656"/>
            <a:ext cx="10168128" cy="2624328"/>
          </a:xfrm>
        </p:spPr>
        <p:txBody>
          <a:bodyPr>
            <a:normAutofit/>
          </a:bodyPr>
          <a:lstStyle/>
          <a:p>
            <a:r>
              <a:rPr lang="en-US" sz="2000" noProof="0"/>
              <a:t>Madsen, M. (2018). DJI Phantom 3 – Payload Dropper v2. </a:t>
            </a:r>
            <a:r>
              <a:rPr lang="en-US" sz="2000" noProof="0">
                <a:hlinkClick r:id="rId2"/>
              </a:rPr>
              <a:t>https://www.thingiverse.com/thing:2913421</a:t>
            </a:r>
            <a:endParaRPr lang="en-US" sz="2000" noProof="0"/>
          </a:p>
          <a:p>
            <a:r>
              <a:rPr lang="en-US" sz="2000" noProof="0"/>
              <a:t>Drone Sky Hook. (n.d.). Dual Release and Drop PLUS for DJI Phantom 3. </a:t>
            </a:r>
            <a:r>
              <a:rPr lang="en-US" sz="2000" noProof="0">
                <a:hlinkClick r:id="rId3"/>
              </a:rPr>
              <a:t>https://www.droneskyhook.com/product-page/Dual-Release-and-Drop-PLUS-for-DJI-Phantom-3</a:t>
            </a:r>
            <a:endParaRPr lang="en-US" sz="2000" noProof="0"/>
          </a:p>
          <a:p>
            <a:r>
              <a:rPr lang="en-US" sz="2000" noProof="0"/>
              <a:t>3Deddy. (2019). DJI Phantom 3 – Payload Dropper. </a:t>
            </a:r>
            <a:r>
              <a:rPr lang="en-US" sz="2000" noProof="0">
                <a:hlinkClick r:id="rId4"/>
              </a:rPr>
              <a:t>https://www.thingiverse.com/thing:3953342</a:t>
            </a:r>
            <a:endParaRPr lang="en-US" sz="2000" noProof="0"/>
          </a:p>
          <a:p>
            <a:endParaRPr lang="en-US" sz="2000" noProof="0"/>
          </a:p>
        </p:txBody>
      </p:sp>
    </p:spTree>
    <p:extLst>
      <p:ext uri="{BB962C8B-B14F-4D97-AF65-F5344CB8AC3E}">
        <p14:creationId xmlns:p14="http://schemas.microsoft.com/office/powerpoint/2010/main" val="3774773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09B767B-DB62-9457-FE08-2DB7F48C9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 for your attention!</a:t>
            </a:r>
          </a:p>
        </p:txBody>
      </p:sp>
      <p:sp>
        <p:nvSpPr>
          <p:cNvPr id="9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647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b1ccae3-b4ce-4e48-8343-dd6a1e00c63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C5B6A80D5BF7C4EACA2E3FB769104D0" ma:contentTypeVersion="13" ma:contentTypeDescription="Crear nuevo documento." ma:contentTypeScope="" ma:versionID="5714bea48ae8a05e24ab4c134a412f89">
  <xsd:schema xmlns:xsd="http://www.w3.org/2001/XMLSchema" xmlns:xs="http://www.w3.org/2001/XMLSchema" xmlns:p="http://schemas.microsoft.com/office/2006/metadata/properties" xmlns:ns3="c7ae8264-35e1-4a33-a4c2-b883bfe3d818" xmlns:ns4="bb1ccae3-b4ce-4e48-8343-dd6a1e00c63b" targetNamespace="http://schemas.microsoft.com/office/2006/metadata/properties" ma:root="true" ma:fieldsID="34935e1126f4034182fcbf6ceb4ed604" ns3:_="" ns4:_="">
    <xsd:import namespace="c7ae8264-35e1-4a33-a4c2-b883bfe3d818"/>
    <xsd:import namespace="bb1ccae3-b4ce-4e48-8343-dd6a1e00c63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_activity" minOccurs="0"/>
                <xsd:element ref="ns4:MediaServiceMetadata" minOccurs="0"/>
                <xsd:element ref="ns4:MediaServiceFastMetadata" minOccurs="0"/>
                <xsd:element ref="ns4:MediaServiceSearchProperties" minOccurs="0"/>
                <xsd:element ref="ns4:MediaServiceObjectDetectorVersions" minOccurs="0"/>
                <xsd:element ref="ns4:MediaServiceDateTaken" minOccurs="0"/>
                <xsd:element ref="ns4:MediaServiceSystemTags" minOccurs="0"/>
                <xsd:element ref="ns4:MediaServiceGenerationTime" minOccurs="0"/>
                <xsd:element ref="ns4:MediaServiceEventHashCode" minOccurs="0"/>
                <xsd:element ref="ns4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ae8264-35e1-4a33-a4c2-b883bfe3d81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1ccae3-b4ce-4e48-8343-dd6a1e00c63b" elementFormDefault="qualified">
    <xsd:import namespace="http://schemas.microsoft.com/office/2006/documentManagement/types"/>
    <xsd:import namespace="http://schemas.microsoft.com/office/infopath/2007/PartnerControls"/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A4FE42-A9B0-4550-B753-0E105AFDAB03}">
  <ds:schemaRefs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terms/"/>
    <ds:schemaRef ds:uri="http://schemas.microsoft.com/office/infopath/2007/PartnerControls"/>
    <ds:schemaRef ds:uri="bb1ccae3-b4ce-4e48-8343-dd6a1e00c63b"/>
    <ds:schemaRef ds:uri="c7ae8264-35e1-4a33-a4c2-b883bfe3d818"/>
  </ds:schemaRefs>
</ds:datastoreItem>
</file>

<file path=customXml/itemProps2.xml><?xml version="1.0" encoding="utf-8"?>
<ds:datastoreItem xmlns:ds="http://schemas.openxmlformats.org/officeDocument/2006/customXml" ds:itemID="{6B3AAABD-EA9A-41FC-A398-75237524FFA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1387B98-91FA-498E-850A-05B604B5CFA3}">
  <ds:schemaRefs>
    <ds:schemaRef ds:uri="bb1ccae3-b4ce-4e48-8343-dd6a1e00c63b"/>
    <ds:schemaRef ds:uri="c7ae8264-35e1-4a33-a4c2-b883bfe3d81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188</Words>
  <Application>Microsoft Office PowerPoint</Application>
  <PresentationFormat>Panorámica</PresentationFormat>
  <Paragraphs>39</Paragraphs>
  <Slides>8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Wingdings</vt:lpstr>
      <vt:lpstr>Tema de Office</vt:lpstr>
      <vt:lpstr>Milestone 0: Presentation</vt:lpstr>
      <vt:lpstr>PROJECT PROPOSAL</vt:lpstr>
      <vt:lpstr>OBJECTIVES</vt:lpstr>
      <vt:lpstr>TEAM ORGANITZATION</vt:lpstr>
      <vt:lpstr>MANAGEMENT PLANNING</vt:lpstr>
      <vt:lpstr>WEBSITE</vt:lpstr>
      <vt:lpstr>REFERENCES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 Font</dc:creator>
  <cp:lastModifiedBy>Jan Font Coll</cp:lastModifiedBy>
  <cp:revision>2</cp:revision>
  <dcterms:created xsi:type="dcterms:W3CDTF">2026-02-17T16:40:08Z</dcterms:created>
  <dcterms:modified xsi:type="dcterms:W3CDTF">2026-03-24T16:58:45Z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0x0101003C5B6A80D5BF7C4EACA2E3FB769104D0</vt:lpwstr>
  </property>
</Properties>
</file>